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77" d="100"/>
          <a:sy n="77" d="100"/>
        </p:scale>
        <p:origin x="243" y="39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png"/><Relationship Id="rId10" Type="http://schemas.openxmlformats.org/officeDocument/2006/relationships/image" Target="../media/image2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1501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923925" y="2864642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>
              <a:defRPr/>
            </a:pPr>
            <a:r>
              <a:rPr sz="1650" b="1" i="0" u="none">
                <a:solidFill>
                  <a:srgbClr val="1E3A8A"/>
                </a:solidFill>
                <a:latin typeface="Poppins"/>
              </a:rPr>
              <a:t>Candidate Details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23925" y="3293267"/>
            <a:ext cx="4684694" cy="24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Student Name: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US" sz="1300" b="0" i="0" u="none">
                <a:solidFill>
                  <a:srgbClr val="475569"/>
                </a:solidFill>
                <a:latin typeface="Inter"/>
              </a:rPr>
              <a:t>Harsh Aryan</a:t>
            </a:r>
            <a:endParaRPr sz="13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923925" y="3631406"/>
            <a:ext cx="4678934" cy="24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Roll Number: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US" sz="1300">
                <a:solidFill>
                  <a:srgbClr val="475569"/>
                </a:solidFill>
                <a:latin typeface="Inter"/>
              </a:rPr>
              <a:t>2410031314</a:t>
            </a:r>
            <a:endParaRPr sz="13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Degree: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B.Tech (Computer Science &amp; Engineering)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923925" y="4307681"/>
            <a:ext cx="4676775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Academic Batch: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202</a:t>
            </a:r>
            <a:r>
              <a:rPr lang="en-US" sz="1300" b="0" i="0" u="none">
                <a:solidFill>
                  <a:srgbClr val="475569"/>
                </a:solidFill>
                <a:latin typeface="Inter"/>
              </a:rPr>
              <a:t>4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-202</a:t>
            </a:r>
            <a:r>
              <a:rPr lang="en-US" sz="1300" b="0" i="0" u="none">
                <a:solidFill>
                  <a:srgbClr val="475569"/>
                </a:solidFill>
                <a:latin typeface="Inter"/>
              </a:rPr>
              <a:t>8</a:t>
            </a:r>
            <a:endParaRPr sz="13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923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University: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IILM University, Greater Noida, U.P.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638925" y="2864642"/>
            <a:ext cx="4910613" cy="253916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>
              <a:defRPr/>
            </a:pPr>
            <a:r>
              <a:rPr lang="en-US" sz="1650" b="1">
                <a:solidFill>
                  <a:srgbClr val="1E3A8A"/>
                </a:solidFill>
                <a:latin typeface="Poppins"/>
              </a:rPr>
              <a:t>Cisco Learning Program Details</a:t>
            </a:r>
            <a:endParaRPr sz="1650" b="1" i="0" u="none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6638925" y="3293267"/>
            <a:ext cx="467677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Program Name: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250"/>
              <a:t>Cisco Virtual Internship Program</a:t>
            </a:r>
            <a:endParaRPr sz="12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6638925" y="3631406"/>
            <a:ext cx="467677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Specialization Domain: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250"/>
              <a:t>Networking and Cybersecurity</a:t>
            </a:r>
            <a:endParaRPr sz="12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6638925" y="3969543"/>
            <a:ext cx="467677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sz="1300" b="1" i="0" u="none">
                <a:solidFill>
                  <a:srgbClr val="475569"/>
                </a:solidFill>
                <a:latin typeface="Inter"/>
              </a:rPr>
              <a:t>Duration: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250"/>
              <a:t>May 2026 – June 2026</a:t>
            </a:r>
            <a:endParaRPr sz="12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6638925" y="4217580"/>
            <a:ext cx="4676775" cy="1023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lang="en-IN" sz="1300" b="1" i="0" u="none">
                <a:solidFill>
                  <a:srgbClr val="475569"/>
                </a:solidFill>
                <a:latin typeface="Inter"/>
              </a:rPr>
              <a:t>Courses Completed:</a:t>
            </a:r>
            <a:r>
              <a:rPr lang="en-IN" sz="1300">
                <a:solidFill>
                  <a:srgbClr val="475569"/>
                </a:solidFill>
                <a:latin typeface="Inter"/>
              </a:rPr>
              <a:t>-</a:t>
            </a:r>
            <a:endParaRPr/>
          </a:p>
          <a:p>
            <a:pPr marL="171450" lvl="0" indent="-171450">
              <a:buFont typeface="Wingdings"/>
              <a:buChar char="v"/>
              <a:defRPr/>
            </a:pPr>
            <a:r>
              <a:rPr lang="en-IN" sz="1200"/>
              <a:t>Cybersecurity Essentials </a:t>
            </a:r>
            <a:endParaRPr/>
          </a:p>
          <a:p>
            <a:pPr marL="171450" lvl="0" indent="-171450">
              <a:buFont typeface="Wingdings"/>
              <a:buChar char="v"/>
              <a:defRPr/>
            </a:pPr>
            <a:r>
              <a:rPr lang="en-IN" sz="1200"/>
              <a:t>Exploring Networking with Cisco Packet Tracer </a:t>
            </a:r>
            <a:endParaRPr/>
          </a:p>
          <a:p>
            <a:pPr marL="171450" lvl="0" indent="-171450">
              <a:buFont typeface="Wingdings"/>
              <a:buChar char="v"/>
              <a:defRPr/>
            </a:pPr>
            <a:r>
              <a:rPr lang="en-IN" sz="1200"/>
              <a:t>Getting Started with Cisco Packet Tracer</a:t>
            </a:r>
            <a:endParaRPr/>
          </a:p>
          <a:p>
            <a:pPr algn="l">
              <a:lnSpc>
                <a:spcPts val="1912"/>
              </a:lnSpc>
              <a:defRPr/>
            </a:pPr>
            <a:endParaRPr sz="13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Candidate &amp; Program Overview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  <a:defRPr/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EduSkills Academy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is an ISO 9001:2015 and ISO 20000-1:2018 certified organization operating under the vision of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"Nation Building Through Skills"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0F172A"/>
                </a:solidFill>
                <a:latin typeface="Inter"/>
              </a:rPr>
              <a:t>AICTE Collaboration: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Operates under the patronage of the AICTE National Internship Portal to empower engineering talent across India.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0F172A"/>
                </a:solidFill>
                <a:latin typeface="Inter"/>
              </a:rPr>
              <a:t>Industry Alignment: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Partners with leading global tech organizations to bridge academia and industry gaps in emerging tech.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  <a:defRPr/>
            </a:pPr>
            <a:r>
              <a:rPr sz="1300" b="1" i="0" u="none">
                <a:solidFill>
                  <a:srgbClr val="0F172A"/>
                </a:solidFill>
                <a:latin typeface="Inter"/>
              </a:rPr>
              <a:t>Core Focus Domains: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 Artificial Intelligence, 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MLOps</a:t>
            </a:r>
            <a:r>
              <a:rPr sz="1300" b="0" i="0" u="none">
                <a:solidFill>
                  <a:srgbClr val="475569"/>
                </a:solidFill>
                <a:latin typeface="Inter"/>
              </a:rPr>
              <a:t>, Cloud Computing, Cybersecurity, and Enterprise Automation.</a:t>
            </a:r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1500" y="3094583"/>
            <a:ext cx="266700" cy="21907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71500" y="3994695"/>
            <a:ext cx="266700" cy="21907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71500" y="4894808"/>
            <a:ext cx="209550" cy="2190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 bwMode="auto"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Organization Profile: EduSkills Academy</a:t>
            </a:r>
            <a:endParaRPr/>
          </a:p>
        </p:txBody>
      </p:sp>
      <p:sp>
        <p:nvSpPr>
          <p:cNvPr id="13" name="Rectangle 12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096000" y="1606000"/>
            <a:ext cx="5961095" cy="39740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defRPr/>
            </a:pPr>
            <a:r>
              <a:rPr sz="1650" b="1" i="0" u="none">
                <a:solidFill>
                  <a:srgbClr val="1E3A8A"/>
                </a:solidFill>
                <a:latin typeface="Poppins"/>
              </a:rPr>
              <a:t>The Industry Challenge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923925" y="3317130"/>
            <a:ext cx="4791075" cy="1494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Cyberattacks are increasing rapidly across organizations worldwide.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Many users and businesses lack awareness of basic cybersecurity practices.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Weak passwords, phishing attacks, malware, and data breaches remain common threats.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Organizations require skilled professionals who understand network and information security principles.</a:t>
            </a:r>
            <a:endParaRPr/>
          </a:p>
          <a:p>
            <a:pPr algn="l">
              <a:lnSpc>
                <a:spcPts val="1687"/>
              </a:lnSpc>
              <a:defRPr/>
            </a:pPr>
            <a:endParaRPr sz="11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defRPr/>
            </a:pPr>
            <a:r>
              <a:rPr sz="1650" b="1" i="0" u="none">
                <a:solidFill>
                  <a:srgbClr val="1E3A8A"/>
                </a:solidFill>
                <a:latin typeface="Poppins"/>
              </a:rPr>
              <a:t>The Solution Scope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638925" y="3317130"/>
            <a:ext cx="4676775" cy="1494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The Cybersecurity Essentials program provides foundational knowledge of cybersecurity concepts.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Covers threats, vulnerabilities, risk management, network security, and security best practices.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Introduces learners to protecting systems, networks, and digital assets.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Helps build a strong foundation for advanced cybersecurity and ethical hacking studies.</a:t>
            </a:r>
            <a:endParaRPr/>
          </a:p>
          <a:p>
            <a:pPr algn="l">
              <a:lnSpc>
                <a:spcPts val="1687"/>
              </a:lnSpc>
              <a:defRPr/>
            </a:pPr>
            <a:endParaRPr sz="1150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Problem Statement &amp; Industry Context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704256" y="3320653"/>
            <a:ext cx="2583657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Cybersecurity Fundamentals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809625" y="3987403"/>
            <a:ext cx="2194832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200"/>
              <a:t>Learn core cybersecurity concepts, including confidentiality, integrity, availability (CIA Triad), threats, vulnerabilities, and risk management principles</a:t>
            </a:r>
            <a:r>
              <a:rPr sz="1150" b="0" i="0" u="none">
                <a:solidFill>
                  <a:srgbClr val="64748B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3578721" y="3320653"/>
            <a:ext cx="22127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Network Security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3631406" y="3987403"/>
            <a:ext cx="22502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200"/>
              <a:t>Understand network security mechanisms such as firewalls, VPNs, intrusion detection systems, and secure communication protocols.</a:t>
            </a:r>
            <a:endParaRPr sz="11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6372225" y="3320653"/>
            <a:ext cx="234553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Threats &amp; Attack Prevention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6453187" y="3963710"/>
            <a:ext cx="210740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200"/>
              <a:t>Identify common cyber threats including malware, phishing, ransomware, social engineering, and methods used to prevent them.</a:t>
            </a:r>
            <a:endParaRPr sz="11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9225205" y="3320653"/>
            <a:ext cx="23455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Security Best Practices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9274968" y="3701653"/>
            <a:ext cx="210740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200"/>
              <a:t>Develop skills in password security, access control, data protection, incident response, and cybersecurity awareness.</a:t>
            </a:r>
            <a:endParaRPr sz="11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Core Project Objectives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71500" y="2557002"/>
            <a:ext cx="778651" cy="68817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3449757" y="2612467"/>
            <a:ext cx="771587" cy="61749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6215062" y="2542278"/>
            <a:ext cx="1076439" cy="71762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9036843" y="2513051"/>
            <a:ext cx="969753" cy="7760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1500" y="2455068"/>
            <a:ext cx="2583656" cy="28432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93281" y="2455068"/>
            <a:ext cx="2583656" cy="28432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15062" y="2455068"/>
            <a:ext cx="2583656" cy="28432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036843" y="2455068"/>
            <a:ext cx="2583656" cy="2843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704256" y="3321843"/>
            <a:ext cx="22127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Networking Infrastructure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704256" y="3916382"/>
            <a:ext cx="210740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Routers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Switches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TCP/IP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3578721" y="3321843"/>
            <a:ext cx="22127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Security Controls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3574298" y="3920834"/>
            <a:ext cx="210740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Firewalls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VPNs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Access Control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400502" y="3321843"/>
            <a:ext cx="22127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Threat Detection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6400502" y="3910836"/>
            <a:ext cx="210740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Malware Analysis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Intrusion Detection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Monitoring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9222283" y="3321843"/>
            <a:ext cx="22127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1500" b="1">
                <a:latin typeface="Poppins"/>
                <a:cs typeface="Poppins"/>
              </a:rPr>
              <a:t>Learning Platform</a:t>
            </a:r>
            <a:endParaRPr sz="15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9202638" y="3865452"/>
            <a:ext cx="210740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Cisco </a:t>
            </a:r>
            <a:r>
              <a:rPr lang="en-IN" sz="1200"/>
              <a:t>NetAcad</a:t>
            </a:r>
            <a:r>
              <a:rPr lang="en-IN" sz="1200"/>
              <a:t>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EduSkills</a:t>
            </a:r>
            <a:r>
              <a:rPr lang="en-IN" sz="1200"/>
              <a:t> </a:t>
            </a:r>
            <a:endParaRPr/>
          </a:p>
          <a:p>
            <a:pPr marL="171450" lvl="0" indent="-171450">
              <a:buFont typeface="Wingdings"/>
              <a:buChar char="Ø"/>
              <a:defRPr/>
            </a:pPr>
            <a:r>
              <a:rPr lang="en-IN" sz="1200"/>
              <a:t>AICTE Virtual Internship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2550" b="1">
                <a:latin typeface="Poppins"/>
                <a:cs typeface="Poppins"/>
              </a:rPr>
              <a:t>Key Technologies and Security Concepts</a:t>
            </a:r>
            <a:endParaRPr sz="255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4" descr="https://images.openai.com/static-rsc-4/RI5CLkwHKAK_-_4JaCtJN2c7dZef7V4Byt6MuR3iXDSfY7ACiSl1AUDhmq10i7LdRQlipqCJw7691y6_Nhq6wDF0YC9B_as5R3Fef7EPnD1NDJ7Qg4kYplvd2owAW0gno0TFvXbzz9j-BlebpcZ1CDmgu9g7qUkdUL9I523tRJO4HtTaG73vJyrrAYzFhyCD?purpose=fullsize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04256" y="2619223"/>
            <a:ext cx="612550" cy="612550"/>
          </a:xfrm>
          <a:prstGeom prst="rect">
            <a:avLst/>
          </a:prstGeom>
        </p:spPr>
      </p:pic>
      <p:pic>
        <p:nvPicPr>
          <p:cNvPr id="26" name="Picture 25" descr="https://images.openai.com/static-rsc-4/TzSKhu8lBSOYxFEpY4ib6glyCMhtQsClQU4N-W4ycNxqYNT7CjRBrxzmyxQJ7f38OKzBPSfCQN01Tr_gHvgggi9IwlifLNi-3e5ZQfzdTKnTDSJyT4m7VQw1O0swH8flc4s3cXQ3BxxHs7_e-0ibu0GTicJ8l1Db-R0yzn9RAWDYEzyli1ZSsRRAjozXLpDn?purpose=fullsize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3530098" y="2501765"/>
            <a:ext cx="774424" cy="77442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6400502" y="2565663"/>
            <a:ext cx="719670" cy="719670"/>
          </a:xfrm>
          <a:prstGeom prst="rect">
            <a:avLst/>
          </a:prstGeom>
        </p:spPr>
      </p:pic>
      <p:pic>
        <p:nvPicPr>
          <p:cNvPr id="29" name="Picture 28" descr="https://images.openai.com/static-rsc-4/XtbLxS4gdTKVJpbN5EW1SApz90N9gQqytx97Z6IUnXIxJj3ATu5rsbqmmKg0Om0kq5mcgSkqGOtS6Rn-y73gAGErXusr0705E4oHtXbo3Ds22y79XfQDJEJM0EMfhkuod6iDbTeAnyCfJMlE_1k4lNnwTuQJdvXTphQ-wIFmb_yOd86chncEwAtUVdG2EXl-?purpose=fullsize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9202638" y="2565663"/>
            <a:ext cx="640702" cy="640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571500" y="485775"/>
            <a:ext cx="6745644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2550" b="1">
                <a:latin typeface="Poppins"/>
                <a:cs typeface="Poppins"/>
              </a:rPr>
              <a:t>Cybersecurity Learning Framework</a:t>
            </a:r>
            <a:endParaRPr sz="255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8580" y="1488154"/>
            <a:ext cx="2730235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/>
              <a:t>🛡️ Security Fundamentals</a:t>
            </a:r>
            <a:endParaRPr/>
          </a:p>
          <a:p>
            <a:pPr>
              <a:defRPr/>
            </a:pPr>
            <a:endParaRPr lang="en-IN" sz="500" b="1"/>
          </a:p>
          <a:p>
            <a:pPr marL="285750" indent="-285750">
              <a:buFont typeface="Wingdings"/>
              <a:buChar char="Ø"/>
              <a:defRPr/>
            </a:pPr>
            <a:r>
              <a:rPr lang="en-IN" sz="1500"/>
              <a:t>CIA Triad </a:t>
            </a:r>
            <a:endParaRPr/>
          </a:p>
          <a:p>
            <a:pPr marL="285750" indent="-285750">
              <a:buFont typeface="Wingdings"/>
              <a:buChar char="Ø"/>
              <a:defRPr/>
            </a:pPr>
            <a:r>
              <a:rPr lang="en-IN" sz="1500"/>
              <a:t>Security Policies </a:t>
            </a:r>
            <a:endParaRPr/>
          </a:p>
          <a:p>
            <a:pPr marL="285750" indent="-285750">
              <a:buFont typeface="Wingdings"/>
              <a:buChar char="Ø"/>
              <a:defRPr/>
            </a:pPr>
            <a:r>
              <a:rPr lang="en-IN" sz="1500"/>
              <a:t>Risk Management</a:t>
            </a:r>
            <a:endParaRPr/>
          </a:p>
          <a:p>
            <a:pPr>
              <a:defRPr/>
            </a:pPr>
            <a:endParaRPr lang="en-IN"/>
          </a:p>
        </p:txBody>
      </p:sp>
      <p:sp>
        <p:nvSpPr>
          <p:cNvPr id="16" name="TextBox 15"/>
          <p:cNvSpPr txBox="1"/>
          <p:nvPr/>
        </p:nvSpPr>
        <p:spPr bwMode="auto">
          <a:xfrm>
            <a:off x="298580" y="2759586"/>
            <a:ext cx="2323072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/>
              <a:t>🌐 Network Security</a:t>
            </a:r>
            <a:endParaRPr/>
          </a:p>
          <a:p>
            <a:pPr>
              <a:defRPr/>
            </a:pPr>
            <a:endParaRPr lang="en-IN" sz="500" b="1"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Network Infrastructure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Firewalls &amp; VPNs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Secure Communication</a:t>
            </a:r>
            <a:endParaRPr/>
          </a:p>
          <a:p>
            <a:pPr>
              <a:defRPr/>
            </a:pPr>
            <a:endParaRPr lang="en-IN"/>
          </a:p>
        </p:txBody>
      </p:sp>
      <p:sp>
        <p:nvSpPr>
          <p:cNvPr id="17" name="TextBox 16"/>
          <p:cNvSpPr txBox="1"/>
          <p:nvPr/>
        </p:nvSpPr>
        <p:spPr bwMode="auto">
          <a:xfrm>
            <a:off x="298580" y="4031018"/>
            <a:ext cx="278954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/>
              <a:t>🔍 Threat Analysis</a:t>
            </a:r>
            <a:endParaRPr/>
          </a:p>
          <a:p>
            <a:pPr>
              <a:defRPr/>
            </a:pPr>
            <a:endParaRPr lang="en-IN" sz="500" b="1"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Malware Identification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Phishing Attacks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Social Engineering Awareness</a:t>
            </a:r>
            <a:endParaRPr/>
          </a:p>
          <a:p>
            <a:pPr>
              <a:defRPr/>
            </a:pPr>
            <a:endParaRPr lang="en-IN"/>
          </a:p>
        </p:txBody>
      </p:sp>
      <p:sp>
        <p:nvSpPr>
          <p:cNvPr id="18" name="TextBox 17"/>
          <p:cNvSpPr txBox="1"/>
          <p:nvPr/>
        </p:nvSpPr>
        <p:spPr bwMode="auto">
          <a:xfrm>
            <a:off x="298580" y="5225506"/>
            <a:ext cx="280557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/>
              <a:t>🔐 Protection Mechanisms</a:t>
            </a:r>
            <a:endParaRPr/>
          </a:p>
          <a:p>
            <a:pPr>
              <a:defRPr/>
            </a:pPr>
            <a:endParaRPr lang="en-IN" sz="500" b="1"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Access Control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Authentication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Data Protection</a:t>
            </a:r>
            <a:endParaRPr/>
          </a:p>
          <a:p>
            <a:pPr>
              <a:defRPr/>
            </a:pPr>
            <a:endParaRPr lang="en-IN"/>
          </a:p>
        </p:txBody>
      </p:sp>
      <p:sp>
        <p:nvSpPr>
          <p:cNvPr id="20" name="Rectangle 19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4068146" y="1488154"/>
            <a:ext cx="2451312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/>
              <a:t>📊 Security Monitoring</a:t>
            </a:r>
            <a:endParaRPr/>
          </a:p>
          <a:p>
            <a:pPr>
              <a:defRPr/>
            </a:pPr>
            <a:endParaRPr lang="en-IN" sz="500" b="1"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Incident Response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Security Auditing </a:t>
            </a:r>
            <a:endParaRPr/>
          </a:p>
          <a:p>
            <a:pPr marL="285750" lvl="0" indent="-285750">
              <a:buFont typeface="Wingdings"/>
              <a:buChar char="Ø"/>
              <a:defRPr/>
            </a:pPr>
            <a:r>
              <a:rPr lang="en-IN" sz="1500"/>
              <a:t>Continuous Monitoring</a:t>
            </a:r>
            <a:endParaRPr/>
          </a:p>
          <a:p>
            <a:pPr>
              <a:defRPr/>
            </a:pPr>
            <a:endParaRPr lang="en-IN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78150" y="2697204"/>
            <a:ext cx="8015270" cy="408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1500" y="4210049"/>
            <a:ext cx="2796042" cy="15065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1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752475" y="4705350"/>
            <a:ext cx="2432374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Cybersecurity Basics &amp; Packet Tracer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sz="10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100"/>
              <a:t>Threats, vulnerabilities, network security fundamentals, Packet Tracer installation and basic networking.</a:t>
            </a:r>
            <a:endParaRPr sz="11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2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3588394" y="2762862"/>
            <a:ext cx="217929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Network Attacks &amp; Infrastructure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lang="en-IN" sz="1100"/>
              <a:t>Attack techniques, wireless security, network devices, and security infrastructure.</a:t>
            </a:r>
            <a:endParaRPr sz="11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3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313886" y="4611327"/>
            <a:ext cx="2400146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Windows, Linux &amp; Endpoint Security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sz="10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100"/>
              <a:t>Operating systems, endpoint protection, security principles, and checkpoint assessment.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4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9079259" y="2775176"/>
            <a:ext cx="254124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Defense</a:t>
            </a:r>
            <a:r>
              <a:rPr lang="en-IN" sz="1200" b="1"/>
              <a:t> Mechanisms &amp; Access Control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sz="10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100"/>
              <a:t>Network </a:t>
            </a:r>
            <a:r>
              <a:rPr lang="en-IN" sz="1100"/>
              <a:t>defense</a:t>
            </a:r>
            <a:r>
              <a:rPr lang="en-IN" sz="1100"/>
              <a:t>, access control concepts, branch office networking, and monitoring using Packet Tracer.</a:t>
            </a:r>
            <a:r>
              <a:rPr sz="1100" b="0" i="0" u="none">
                <a:solidFill>
                  <a:srgbClr val="475569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1 to 4)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Rounded Rectangle 17"/>
          <p:cNvSpPr/>
          <p:nvPr/>
        </p:nvSpPr>
        <p:spPr bwMode="auto"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Rounded Rectangle 18"/>
          <p:cNvSpPr/>
          <p:nvPr/>
        </p:nvSpPr>
        <p:spPr bwMode="auto"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Rounded Rectangle 19"/>
          <p:cNvSpPr/>
          <p:nvPr/>
        </p:nvSpPr>
        <p:spPr bwMode="auto"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07419" y="2343247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712568" y="2364581"/>
            <a:ext cx="2907931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5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752475" y="4605720"/>
            <a:ext cx="217929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Firewall &amp; Access Control Security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sz="10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100"/>
              <a:t>ACLs, firewall technologies, zone-based firewalls, and network </a:t>
            </a:r>
            <a:r>
              <a:rPr lang="en-IN" sz="1100"/>
              <a:t>defense</a:t>
            </a:r>
            <a:r>
              <a:rPr lang="en-IN" sz="1100"/>
              <a:t> concepts</a:t>
            </a:r>
            <a:r>
              <a:rPr lang="en-IN" sz="1000"/>
              <a:t>.</a:t>
            </a:r>
            <a:r>
              <a:rPr sz="1000" b="0" i="0" u="none">
                <a:solidFill>
                  <a:srgbClr val="475569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6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3588394" y="2764303"/>
            <a:ext cx="2233772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Cloud Security &amp; Cryptography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sz="10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100"/>
              <a:t>Cloud security principles, encryption techniques, cryptographic applications, and security assessments.</a:t>
            </a:r>
            <a:endParaRPr sz="11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7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243339" y="4590558"/>
            <a:ext cx="2469229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Security Monitoring &amp; Alert Analysis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sz="100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IN" sz="1100"/>
              <a:t>Network protocols, security data analysis, threat detection, and security alert evaluation</a:t>
            </a:r>
            <a:r>
              <a:rPr lang="en-IN" sz="1000"/>
              <a:t>.</a:t>
            </a:r>
            <a:endParaRPr sz="10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9120027" y="2551821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1" i="0" u="none">
                <a:solidFill>
                  <a:srgbClr val="2563EB"/>
                </a:solidFill>
                <a:latin typeface="Poppins"/>
              </a:rPr>
              <a:t>Week 8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8784580" y="2736539"/>
            <a:ext cx="283592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IN" sz="1200" b="1"/>
              <a:t>Risk Management &amp; Incident Response</a:t>
            </a:r>
            <a:endParaRPr/>
          </a:p>
          <a:p>
            <a:pPr algn="ctr">
              <a:lnSpc>
                <a:spcPct val="100000"/>
              </a:lnSpc>
              <a:defRPr/>
            </a:pPr>
            <a:br>
              <a:rPr/>
            </a:br>
            <a:r>
              <a:rPr lang="en-IN" sz="1100"/>
              <a:t>Governance, compliance, vulnerability assessment, threat intelligence, digital forensics, incident response, and final evaluation.</a:t>
            </a:r>
            <a:endParaRPr sz="11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5 to 8)</a:t>
            </a:r>
            <a:endParaRPr/>
          </a:p>
        </p:txBody>
      </p:sp>
      <p:sp>
        <p:nvSpPr>
          <p:cNvPr id="17" name="Rectangle 16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Rounded Rectangle 17"/>
          <p:cNvSpPr/>
          <p:nvPr/>
        </p:nvSpPr>
        <p:spPr bwMode="auto"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Rounded Rectangle 18"/>
          <p:cNvSpPr/>
          <p:nvPr/>
        </p:nvSpPr>
        <p:spPr bwMode="auto"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Rounded Rectangle 19"/>
          <p:cNvSpPr/>
          <p:nvPr/>
        </p:nvSpPr>
        <p:spPr bwMode="auto"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1905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4632" y="1357312"/>
            <a:ext cx="209550" cy="21907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9006" y="1976070"/>
            <a:ext cx="209550" cy="21907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83066" y="2557809"/>
            <a:ext cx="209550" cy="21907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81887" y="3148856"/>
            <a:ext cx="209550" cy="21907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9006" y="3729259"/>
            <a:ext cx="209550" cy="2190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IN" sz="2550" b="1">
                <a:latin typeface="Poppins"/>
                <a:cs typeface="Poppins"/>
              </a:rPr>
              <a:t>Key Learning Outcomes &amp; Skills Acquired</a:t>
            </a:r>
            <a:endParaRPr sz="255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781050" y="1285517"/>
            <a:ext cx="3579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Network Security Fundamentals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776773" y="1577551"/>
            <a:ext cx="974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Studied cybersecurity threats, vulnerabilities, attack vectors, and </a:t>
            </a:r>
            <a:r>
              <a:rPr lang="en-IN" sz="1400"/>
              <a:t>defense</a:t>
            </a:r>
            <a:r>
              <a:rPr lang="en-IN" sz="1400"/>
              <a:t> mechanisms used to protect organizational networks.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792616" y="1947517"/>
            <a:ext cx="3556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Cisco Packet Tracer Network Design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781050" y="2207603"/>
            <a:ext cx="94781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Designed and simulated small office and branch office networks using Cisco Packet Tracer.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770747" y="251897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Windows &amp; Linux Security Administration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797512" y="2746697"/>
            <a:ext cx="10213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Learned operating system security concepts, user management, permissions, and endpoint protection techniques.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770747" y="3086863"/>
            <a:ext cx="4050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Firewall &amp; Access Control Implementation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770747" y="3384126"/>
            <a:ext cx="9417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Explored Access Control Lists (ACLs), firewall technologies, and zone-based security policies.</a:t>
            </a:r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9056" y="4276959"/>
            <a:ext cx="209550" cy="21907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 bwMode="auto">
          <a:xfrm>
            <a:off x="770747" y="3696862"/>
            <a:ext cx="6170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Cloud Security &amp; Cryptography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776773" y="3931891"/>
            <a:ext cx="1026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Studied cloud security principles, encryption techniques, cryptographic algorithms, and secure communication methods.</a:t>
            </a: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797512" y="4236652"/>
            <a:ext cx="6175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Threat Detection &amp; Security Monitoring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804182" y="4459007"/>
            <a:ext cx="107248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Analyzed</a:t>
            </a:r>
            <a:r>
              <a:rPr lang="en-IN" sz="1400"/>
              <a:t> security alerts, network security data, and incident indicators for threat identification.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770747" y="4786956"/>
            <a:ext cx="6094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Vulnerability Assessment &amp; Risk Management</a:t>
            </a:r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87962" y="4847255"/>
            <a:ext cx="209550" cy="21907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 bwMode="auto">
          <a:xfrm>
            <a:off x="770747" y="4987644"/>
            <a:ext cx="10431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Learned vulnerability assessment methodologies, risk analysis, security controls, and compliance frameworks</a:t>
            </a:r>
            <a:r>
              <a:rPr lang="en-IN"/>
              <a:t>.</a:t>
            </a:r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4693" y="5407758"/>
            <a:ext cx="209550" cy="21907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 bwMode="auto">
          <a:xfrm>
            <a:off x="792616" y="5363406"/>
            <a:ext cx="6175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/>
              <a:t>Digital Forensics &amp; Incident Response</a:t>
            </a:r>
            <a:endParaRPr/>
          </a:p>
        </p:txBody>
      </p:sp>
      <p:sp>
        <p:nvSpPr>
          <p:cNvPr id="52" name="TextBox 51"/>
          <p:cNvSpPr txBox="1"/>
          <p:nvPr/>
        </p:nvSpPr>
        <p:spPr bwMode="auto">
          <a:xfrm>
            <a:off x="797512" y="5592738"/>
            <a:ext cx="8398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/>
              <a:t>Studied forensic investigation processes, evidence collection, incident handling, and response procedures.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1500" y="2016918"/>
            <a:ext cx="11049000" cy="37195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xmlns:a="http://schemas.openxmlformats.org/drawingml/2006/main" noGrp="1"/>
          </p:cNvGraphicFramePr>
          <p:nvPr/>
        </p:nvGraphicFramePr>
        <p:xfrm>
          <a:off x="460310" y="2026443"/>
          <a:ext cx="11377126" cy="3700461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182163"/>
                <a:gridCol w="8194963"/>
              </a:tblGrid>
              <a:tr h="5286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Verification Metric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Official Record / Credential Details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286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150" b="1" i="0" u="none">
                          <a:solidFill>
                            <a:schemeClr val="tx1"/>
                          </a:solidFill>
                          <a:latin typeface="Inter"/>
                        </a:rPr>
                        <a:t>Program</a:t>
                      </a:r>
                      <a:r>
                        <a:rPr sz="1150" b="1" i="0" u="none">
                          <a:solidFill>
                            <a:schemeClr val="tx1"/>
                          </a:solidFill>
                          <a:latin typeface="Inter"/>
                        </a:rPr>
                        <a:t> Title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200"/>
                        <a:t>Cisco Networking Academy Learning Track</a:t>
                      </a:r>
                      <a:endParaRPr sz="115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50" b="1" i="0" u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</a:rPr>
                        <a:t>Courses Completed</a:t>
                      </a:r>
                      <a:endParaRPr sz="1150" b="1" i="0" u="non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200"/>
                        <a:t>Cybersecurity Essentials,     Getting Started with Cisco Packet Tracer,     Exploring Networking with Cisco Packet Tracer</a:t>
                      </a:r>
                      <a:endParaRPr sz="115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86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</a:rPr>
                        <a:t>Issuing Organization</a:t>
                      </a:r>
                      <a:endParaRPr sz="1150" b="1" i="0" u="non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200"/>
                        <a:t>Cisco Networking Academy</a:t>
                      </a: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86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50" b="1" i="0" u="none">
                          <a:solidFill>
                            <a:srgbClr val="334155"/>
                          </a:solidFill>
                          <a:latin typeface="Inter"/>
                        </a:rPr>
                        <a:t>Academic Partner</a:t>
                      </a:r>
                      <a:endParaRPr sz="1150" b="1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50" b="0" i="0" u="none">
                          <a:solidFill>
                            <a:srgbClr val="334155"/>
                          </a:solidFill>
                          <a:latin typeface="Inter"/>
                        </a:rPr>
                        <a:t>IILM University</a:t>
                      </a:r>
                      <a:endParaRPr sz="115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86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200"/>
                        <a:t>Certificate IDs</a:t>
                      </a:r>
                      <a:endParaRPr sz="1150" b="1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200"/>
                        <a:t>8-4e0eed9dc494</a:t>
                      </a:r>
                      <a:endParaRPr sz="115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86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200"/>
                        <a:t>Certification Status</a:t>
                      </a:r>
                      <a:endParaRPr sz="1150" b="1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IN" sz="1200"/>
                        <a:t>Successfully Completed</a:t>
                      </a:r>
                      <a:endParaRPr sz="115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581025" y="30694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3666083" y="30694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ectangle 6"/>
          <p:cNvSpPr/>
          <p:nvPr/>
        </p:nvSpPr>
        <p:spPr bwMode="auto">
          <a:xfrm>
            <a:off x="581025" y="3579017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 bwMode="auto">
          <a:xfrm>
            <a:off x="3666083" y="3579017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 bwMode="auto">
          <a:xfrm>
            <a:off x="581025" y="4088606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3666083" y="4088606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581025" y="46458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3666083" y="46458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Rectangle 12"/>
          <p:cNvSpPr/>
          <p:nvPr/>
        </p:nvSpPr>
        <p:spPr bwMode="auto">
          <a:xfrm>
            <a:off x="581025" y="52030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3666083" y="52030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Rectangle 14"/>
          <p:cNvSpPr/>
          <p:nvPr/>
        </p:nvSpPr>
        <p:spPr bwMode="auto">
          <a:xfrm>
            <a:off x="581025" y="57126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3666083" y="57126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199" y="274638"/>
            <a:ext cx="9509184" cy="841045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IN" sz="2800" b="1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IN"/>
          </a:p>
        </p:txBody>
      </p:sp>
      <p:sp>
        <p:nvSpPr>
          <p:cNvPr id="6" name="Rectangle 5"/>
          <p:cNvSpPr/>
          <p:nvPr/>
        </p:nvSpPr>
        <p:spPr bwMode="auto"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32036" y="1289742"/>
            <a:ext cx="4274394" cy="2886484"/>
          </a:xfrm>
          <a:prstGeom prst="rect">
            <a:avLst/>
          </a:prstGeom>
        </p:spPr>
      </p:pic>
      <p:pic>
        <p:nvPicPr>
          <p:cNvPr id="14250392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163" y="978804"/>
            <a:ext cx="4789480" cy="3197421"/>
          </a:xfrm>
          <a:prstGeom prst="rect">
            <a:avLst/>
          </a:prstGeom>
        </p:spPr>
      </p:pic>
      <p:pic>
        <p:nvPicPr>
          <p:cNvPr id="96546388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539721" y="4121394"/>
            <a:ext cx="4161958" cy="26937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>
            <a:off x="4110751" y="1662111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5100" b="1" i="0" u="none">
                <a:solidFill>
                  <a:srgbClr val="0F172A"/>
                </a:solidFill>
                <a:latin typeface="Poppins"/>
              </a:rPr>
              <a:t>Thank You!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3038475" y="3719512"/>
            <a:ext cx="1836719" cy="314685"/>
          </a:xfrm>
          <a:prstGeom prst="rect">
            <a:avLst/>
          </a:prstGeom>
          <a:noFill/>
        </p:spPr>
        <p:txBody>
          <a:bodyPr wrap="square" lIns="295274" tIns="0" rIns="0" bIns="0" anchor="t">
            <a:spAutoFit/>
          </a:bodyPr>
          <a:lstStyle/>
          <a:p>
            <a:pPr algn="l">
              <a:lnSpc>
                <a:spcPts val="2475"/>
              </a:lnSpc>
              <a:defRPr/>
            </a:pPr>
            <a:r>
              <a:rPr lang="en-US" sz="1650">
                <a:solidFill>
                  <a:srgbClr val="1E293B"/>
                </a:solidFill>
                <a:latin typeface="Inter SemiBold"/>
              </a:rPr>
              <a:t>Harsh Aryan</a:t>
            </a:r>
            <a:endParaRPr sz="1650" b="0" i="0" u="none">
              <a:solidFill>
                <a:srgbClr val="1E293B"/>
              </a:solidFill>
              <a:latin typeface="Inter SemiBold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3057525" y="4044387"/>
            <a:ext cx="1833119" cy="200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defRPr/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Roll No: </a:t>
            </a:r>
            <a:r>
              <a:rPr lang="en-US" sz="1050">
                <a:solidFill>
                  <a:srgbClr val="64748B"/>
                </a:solidFill>
                <a:latin typeface="Inter"/>
              </a:rPr>
              <a:t>2410031314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  <a:defRPr/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defRPr/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onlyoffice/7.3.3.49</Application>
  <DocSecurity>0</DocSecurity>
  <PresentationFormat>Widescreen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Guset_069</cp:lastModifiedBy>
  <cp:revision>5</cp:revision>
  <dcterms:created xsi:type="dcterms:W3CDTF">2013-01-27T09:14:16Z</dcterms:created>
  <dcterms:modified xsi:type="dcterms:W3CDTF">2026-09-09T14:32:14Z</dcterms:modified>
  <cp:category/>
  <cp:contentStatus/>
  <cp:version/>
</cp:coreProperties>
</file>